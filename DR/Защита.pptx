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IBM Plex Mono" panose="020B0604020202020204" charset="-52"/>
      <p:regular r:id="rId15"/>
      <p:bold r:id="rId16"/>
      <p:italic r:id="rId17"/>
      <p:boldItalic r:id="rId18"/>
    </p:embeddedFont>
    <p:embeddedFont>
      <p:font typeface="Archivo" panose="020B060402020202020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0994"/>
    <a:srgbClr val="433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07C846-9843-45AF-9B8D-B071806E4677}">
  <a:tblStyle styleId="{C507C846-9843-45AF-9B8D-B071806E467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F312C86-EB67-4360-B511-09E49BCCB36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71" autoAdjust="0"/>
    <p:restoredTop sz="77986" autoAdjust="0"/>
  </p:normalViewPr>
  <p:slideViewPr>
    <p:cSldViewPr snapToGrid="0">
      <p:cViewPr varScale="1">
        <p:scale>
          <a:sx n="118" d="100"/>
          <a:sy n="118" d="100"/>
        </p:scale>
        <p:origin x="13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Уважаема г-жо Директор, Уважаема комисия,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Уважаеми гости (ако има такива/или поименно – ако е един конкретен гост)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Аз съм Маги Иванова Бояджиева.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Темата на моят дипломен проект е „Интерактивен дашборд за анализ на данни“.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Проектът представлява уеб приложение, което позволява обработка и визуализация на таблични данни чрез използване на съвременни технологии.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съвременния свят данните играят изключително важна роля във всички сфери – бизнес, образование, здравеопазване и технологии. Всекидневно се генерират огромни количества информация, която трябва да бъде обработена и анализирана.</a:t>
            </a:r>
          </a:p>
          <a:p>
            <a:r>
              <a:rPr lang="ru-RU" dirty="0" smtClean="0"/>
              <a:t>Самото събиране на данни не е достатъчно – необходимо е те да бъдат структурирани, обработени и представени по начин, който позволява лесно разбиране и вземане на решения. Именно тук се намесват анализът и визуализацията на данни.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916045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на дипломния проект е разработването на уеб базирано приложение за анализ и визуализация на таблични данни. Приложението предоставя лесен и удобен начин за работа с информация, без да е необходима задълбочена техническа подготовка от страна на потребителя.</a:t>
            </a:r>
          </a:p>
          <a:p>
            <a:r>
              <a:rPr lang="ru-RU" dirty="0" smtClean="0"/>
              <a:t>Системата позволява качване на файлове във формат CSV и Excel, автоматично разпознаване и обработка на данните. След обработката се генерират визуализации под формата на различни видове графики, които подпомагат разбирането на информацията.</a:t>
            </a:r>
          </a:p>
          <a:p>
            <a:r>
              <a:rPr lang="ru-RU" dirty="0" smtClean="0"/>
              <a:t>Осигурена е и възможност за филтриране и групиране на данните, което позволява по-задълбочен анализ и извличане на по-точни изводи. 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1796421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За разработката на проекта са използвани различни технологии. Python е основният програмен език. Django се използва за създаване на уеб приложението. Pandas служи за обработка на данните, а Matplotlib за тяхната визуализация. За дизайна е използван Bootstrap.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4007118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приложението се използват таблични данни, които са организирани в редове и колони. Данните могат да бъдат числови, текстови или времеви. Този тип структура позволява лесна обработка, сортиране и анализ на информацията.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784862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Анализът на данни включва обработка и изследване на информацията с цел извличане на полезни изводи. В проекта се реализират операции като филтриране, групиране и изчисляване на статистически показатели като сума, средна стойност, минимална и максимална стойност.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68879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Pandas е библиотека на Python, която се използва за работа с таблични данни. Основната структура е DataFrame, която представлява таблица. Чрез Pandas се извършва зареждане, обработка, филтриране и групиране на данните. Библиотеката предоставя удобни функции за бърза обработка на големи обеми информация. Тя значително улеснява анализа на данни</a:t>
            </a:r>
            <a:r>
              <a:rPr lang="en-US" dirty="0" smtClean="0"/>
              <a:t>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516288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Matplotlib е библиотека за създаване на графики. В проекта се използват различни видове диаграми като линейни, стълбовидни, кръгови и хистограми. Те позволяват данните да бъдат представени по ясен и нагледен начин.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346542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Потребителят качва файл във формат CSV или Excel. Данните се обработват с помощта на Pandas, след което се визуализират чрез Matplotlib. Резултатите се показват в уеб интерфейс под формата на графики и таблици.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8249427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Приложението включва функционалности като качване на файл, обработка на данни, филтриране и групиране на информацията. 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4926032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Уеб приложението се състои от две основни части – </a:t>
            </a:r>
            <a:r>
              <a:rPr lang="en-US" dirty="0" smtClean="0"/>
              <a:t>backend </a:t>
            </a:r>
            <a:r>
              <a:rPr lang="bg-BG" dirty="0" smtClean="0"/>
              <a:t>и </a:t>
            </a:r>
            <a:r>
              <a:rPr lang="en-US" dirty="0" smtClean="0"/>
              <a:t>frontend. Backend </a:t>
            </a:r>
            <a:r>
              <a:rPr lang="bg-BG" dirty="0" smtClean="0"/>
              <a:t>обработва данните и реализира логиката чрез </a:t>
            </a:r>
            <a:r>
              <a:rPr lang="en-US" dirty="0" smtClean="0"/>
              <a:t>Django, </a:t>
            </a:r>
            <a:r>
              <a:rPr lang="bg-BG" dirty="0" smtClean="0"/>
              <a:t>а </a:t>
            </a:r>
            <a:r>
              <a:rPr lang="en-US" dirty="0" smtClean="0"/>
              <a:t>frontend </a:t>
            </a:r>
            <a:r>
              <a:rPr lang="bg-BG" dirty="0" smtClean="0"/>
              <a:t>представя информацията чрез потребителски интерфейс, създаден с </a:t>
            </a:r>
            <a:r>
              <a:rPr lang="en-US" dirty="0" smtClean="0"/>
              <a:t>HTML </a:t>
            </a:r>
            <a:r>
              <a:rPr lang="bg-BG" dirty="0" smtClean="0"/>
              <a:t>и </a:t>
            </a:r>
            <a:r>
              <a:rPr lang="en-US" dirty="0" smtClean="0"/>
              <a:t>Bootstrap.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048529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82700" y="151650"/>
            <a:ext cx="8778600" cy="4840200"/>
          </a:xfrm>
          <a:prstGeom prst="snip1Rect">
            <a:avLst>
              <a:gd name="adj" fmla="val 448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34950" y="1398100"/>
            <a:ext cx="6486900" cy="156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572000" y="3461550"/>
            <a:ext cx="2947500" cy="39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68674" y="-322162"/>
            <a:ext cx="9371984" cy="3960713"/>
            <a:chOff x="-268674" y="-322162"/>
            <a:chExt cx="9371984" cy="3960713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25762" y="151638"/>
              <a:ext cx="8692477" cy="1388125"/>
              <a:chOff x="225762" y="151638"/>
              <a:chExt cx="8692477" cy="138812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 rot="10800000">
                <a:off x="6955037" y="151638"/>
                <a:ext cx="1963202" cy="13881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 rot="10800000" flipH="1">
                <a:off x="225762" y="151638"/>
                <a:ext cx="1963202" cy="13881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16" name="Google Shape;16;p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7371875" y="1504250"/>
              <a:ext cx="2700599" cy="506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" name="Google Shape;17;p2"/>
            <p:cNvPicPr preferRelativeResize="0"/>
            <p:nvPr/>
          </p:nvPicPr>
          <p:blipFill rotWithShape="1">
            <a:blip r:embed="rId4">
              <a:alphaModFix/>
            </a:blip>
            <a:srcRect t="53278"/>
            <a:stretch/>
          </p:blipFill>
          <p:spPr>
            <a:xfrm rot="10800000">
              <a:off x="-268674" y="2723000"/>
              <a:ext cx="1861925" cy="9155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Google Shape;18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5400000">
              <a:off x="7192572" y="-370975"/>
              <a:ext cx="1861925" cy="195954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8"/>
          <p:cNvSpPr/>
          <p:nvPr/>
        </p:nvSpPr>
        <p:spPr>
          <a:xfrm>
            <a:off x="182700" y="151650"/>
            <a:ext cx="8778600" cy="4840200"/>
          </a:xfrm>
          <a:prstGeom prst="snip1Rect">
            <a:avLst>
              <a:gd name="adj" fmla="val 448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  <p:grpSp>
        <p:nvGrpSpPr>
          <p:cNvPr id="67" name="Google Shape;67;p8"/>
          <p:cNvGrpSpPr/>
          <p:nvPr/>
        </p:nvGrpSpPr>
        <p:grpSpPr>
          <a:xfrm>
            <a:off x="182700" y="151649"/>
            <a:ext cx="8778600" cy="4853775"/>
            <a:chOff x="182700" y="151649"/>
            <a:chExt cx="8778600" cy="4853775"/>
          </a:xfrm>
        </p:grpSpPr>
        <p:pic>
          <p:nvPicPr>
            <p:cNvPr id="68" name="Google Shape;68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232175" y="4603999"/>
              <a:ext cx="1729125" cy="4014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" name="Google Shape;69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82700" y="151649"/>
              <a:ext cx="1729125" cy="4014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2298600" y="1619250"/>
            <a:ext cx="4546800" cy="18495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5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bg>
      <p:bgPr>
        <a:solidFill>
          <a:schemeClr val="lt1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5"/>
          <p:cNvSpPr/>
          <p:nvPr/>
        </p:nvSpPr>
        <p:spPr>
          <a:xfrm>
            <a:off x="182700" y="151650"/>
            <a:ext cx="8778600" cy="4840200"/>
          </a:xfrm>
          <a:prstGeom prst="snip1Rect">
            <a:avLst>
              <a:gd name="adj" fmla="val 4489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  <p:grpSp>
        <p:nvGrpSpPr>
          <p:cNvPr id="352" name="Google Shape;352;p35"/>
          <p:cNvGrpSpPr/>
          <p:nvPr/>
        </p:nvGrpSpPr>
        <p:grpSpPr>
          <a:xfrm>
            <a:off x="-113450" y="-1649725"/>
            <a:ext cx="9394610" cy="8421100"/>
            <a:chOff x="-113450" y="-1649725"/>
            <a:chExt cx="9394610" cy="8421100"/>
          </a:xfrm>
        </p:grpSpPr>
        <p:grpSp>
          <p:nvGrpSpPr>
            <p:cNvPr id="353" name="Google Shape;353;p35"/>
            <p:cNvGrpSpPr/>
            <p:nvPr/>
          </p:nvGrpSpPr>
          <p:grpSpPr>
            <a:xfrm>
              <a:off x="-113450" y="-1649725"/>
              <a:ext cx="8689100" cy="5214600"/>
              <a:chOff x="-113450" y="-1649725"/>
              <a:chExt cx="8689100" cy="5214600"/>
            </a:xfrm>
          </p:grpSpPr>
          <p:sp>
            <p:nvSpPr>
              <p:cNvPr id="354" name="Google Shape;354;p35"/>
              <p:cNvSpPr/>
              <p:nvPr/>
            </p:nvSpPr>
            <p:spPr>
              <a:xfrm>
                <a:off x="-113450" y="0"/>
                <a:ext cx="363625" cy="3564875"/>
              </a:xfrm>
              <a:custGeom>
                <a:avLst/>
                <a:gdLst/>
                <a:ahLst/>
                <a:cxnLst/>
                <a:rect l="l" t="t" r="r" b="b"/>
                <a:pathLst>
                  <a:path w="14545" h="142595" extrusionOk="0">
                    <a:moveTo>
                      <a:pt x="8343" y="-1516"/>
                    </a:moveTo>
                    <a:lnTo>
                      <a:pt x="11756" y="13274"/>
                    </a:lnTo>
                    <a:lnTo>
                      <a:pt x="18393" y="13274"/>
                    </a:lnTo>
                    <a:lnTo>
                      <a:pt x="18393" y="73384"/>
                    </a:lnTo>
                    <a:lnTo>
                      <a:pt x="22888" y="81170"/>
                    </a:lnTo>
                    <a:lnTo>
                      <a:pt x="22888" y="141079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55" name="Google Shape;355;p35"/>
              <p:cNvSpPr/>
              <p:nvPr/>
            </p:nvSpPr>
            <p:spPr>
              <a:xfrm>
                <a:off x="221725" y="-1649725"/>
                <a:ext cx="203525" cy="3086100"/>
              </a:xfrm>
              <a:custGeom>
                <a:avLst/>
                <a:gdLst/>
                <a:ahLst/>
                <a:cxnLst/>
                <a:rect l="l" t="t" r="r" b="b"/>
                <a:pathLst>
                  <a:path w="8141" h="123444" extrusionOk="0">
                    <a:moveTo>
                      <a:pt x="3010" y="0"/>
                    </a:moveTo>
                    <a:lnTo>
                      <a:pt x="3010" y="58214"/>
                    </a:lnTo>
                    <a:lnTo>
                      <a:pt x="0" y="63428"/>
                    </a:lnTo>
                    <a:lnTo>
                      <a:pt x="0" y="74522"/>
                    </a:lnTo>
                    <a:lnTo>
                      <a:pt x="8141" y="82664"/>
                    </a:lnTo>
                    <a:lnTo>
                      <a:pt x="8141" y="123444"/>
                    </a:lnTo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56" name="Google Shape;356;p35"/>
              <p:cNvSpPr/>
              <p:nvPr/>
            </p:nvSpPr>
            <p:spPr>
              <a:xfrm>
                <a:off x="0" y="237025"/>
                <a:ext cx="8575650" cy="164450"/>
              </a:xfrm>
              <a:custGeom>
                <a:avLst/>
                <a:gdLst/>
                <a:ahLst/>
                <a:cxnLst/>
                <a:rect l="l" t="t" r="r" b="b"/>
                <a:pathLst>
                  <a:path w="343026" h="6578" extrusionOk="0">
                    <a:moveTo>
                      <a:pt x="0" y="0"/>
                    </a:moveTo>
                    <a:lnTo>
                      <a:pt x="59730" y="0"/>
                    </a:lnTo>
                    <a:lnTo>
                      <a:pt x="62166" y="4219"/>
                    </a:lnTo>
                    <a:lnTo>
                      <a:pt x="149801" y="4219"/>
                    </a:lnTo>
                    <a:lnTo>
                      <a:pt x="152197" y="70"/>
                    </a:lnTo>
                    <a:lnTo>
                      <a:pt x="161558" y="70"/>
                    </a:lnTo>
                    <a:lnTo>
                      <a:pt x="165315" y="6578"/>
                    </a:lnTo>
                    <a:lnTo>
                      <a:pt x="320651" y="6578"/>
                    </a:lnTo>
                    <a:lnTo>
                      <a:pt x="329039" y="1735"/>
                    </a:lnTo>
                    <a:lnTo>
                      <a:pt x="343026" y="173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</p:grpSp>
        <p:grpSp>
          <p:nvGrpSpPr>
            <p:cNvPr id="357" name="Google Shape;357;p35"/>
            <p:cNvGrpSpPr/>
            <p:nvPr/>
          </p:nvGrpSpPr>
          <p:grpSpPr>
            <a:xfrm rot="10800000">
              <a:off x="553960" y="1556775"/>
              <a:ext cx="8727200" cy="5214600"/>
              <a:chOff x="-113450" y="-1649725"/>
              <a:chExt cx="8727200" cy="5214600"/>
            </a:xfrm>
          </p:grpSpPr>
          <p:sp>
            <p:nvSpPr>
              <p:cNvPr id="358" name="Google Shape;358;p35"/>
              <p:cNvSpPr/>
              <p:nvPr/>
            </p:nvSpPr>
            <p:spPr>
              <a:xfrm>
                <a:off x="-113450" y="0"/>
                <a:ext cx="363625" cy="3564875"/>
              </a:xfrm>
              <a:custGeom>
                <a:avLst/>
                <a:gdLst/>
                <a:ahLst/>
                <a:cxnLst/>
                <a:rect l="l" t="t" r="r" b="b"/>
                <a:pathLst>
                  <a:path w="14545" h="142595" extrusionOk="0">
                    <a:moveTo>
                      <a:pt x="8343" y="-1516"/>
                    </a:moveTo>
                    <a:lnTo>
                      <a:pt x="11756" y="13274"/>
                    </a:lnTo>
                    <a:lnTo>
                      <a:pt x="18393" y="13274"/>
                    </a:lnTo>
                    <a:lnTo>
                      <a:pt x="18393" y="73384"/>
                    </a:lnTo>
                    <a:lnTo>
                      <a:pt x="22888" y="81170"/>
                    </a:lnTo>
                    <a:lnTo>
                      <a:pt x="22888" y="141079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59" name="Google Shape;359;p35"/>
              <p:cNvSpPr/>
              <p:nvPr/>
            </p:nvSpPr>
            <p:spPr>
              <a:xfrm>
                <a:off x="221725" y="-1649725"/>
                <a:ext cx="203525" cy="3086100"/>
              </a:xfrm>
              <a:custGeom>
                <a:avLst/>
                <a:gdLst/>
                <a:ahLst/>
                <a:cxnLst/>
                <a:rect l="l" t="t" r="r" b="b"/>
                <a:pathLst>
                  <a:path w="8141" h="123444" extrusionOk="0">
                    <a:moveTo>
                      <a:pt x="3010" y="0"/>
                    </a:moveTo>
                    <a:lnTo>
                      <a:pt x="3010" y="58214"/>
                    </a:lnTo>
                    <a:lnTo>
                      <a:pt x="0" y="63428"/>
                    </a:lnTo>
                    <a:lnTo>
                      <a:pt x="0" y="74522"/>
                    </a:lnTo>
                    <a:lnTo>
                      <a:pt x="8141" y="82664"/>
                    </a:lnTo>
                    <a:lnTo>
                      <a:pt x="8141" y="123444"/>
                    </a:lnTo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  <p:sp>
            <p:nvSpPr>
              <p:cNvPr id="360" name="Google Shape;360;p35"/>
              <p:cNvSpPr/>
              <p:nvPr/>
            </p:nvSpPr>
            <p:spPr>
              <a:xfrm>
                <a:off x="38100" y="237025"/>
                <a:ext cx="8575650" cy="164450"/>
              </a:xfrm>
              <a:custGeom>
                <a:avLst/>
                <a:gdLst/>
                <a:ahLst/>
                <a:cxnLst/>
                <a:rect l="l" t="t" r="r" b="b"/>
                <a:pathLst>
                  <a:path w="343026" h="6578" extrusionOk="0">
                    <a:moveTo>
                      <a:pt x="0" y="0"/>
                    </a:moveTo>
                    <a:lnTo>
                      <a:pt x="59730" y="0"/>
                    </a:lnTo>
                    <a:lnTo>
                      <a:pt x="62166" y="4219"/>
                    </a:lnTo>
                    <a:lnTo>
                      <a:pt x="149801" y="4219"/>
                    </a:lnTo>
                    <a:lnTo>
                      <a:pt x="152197" y="70"/>
                    </a:lnTo>
                    <a:lnTo>
                      <a:pt x="161558" y="70"/>
                    </a:lnTo>
                    <a:lnTo>
                      <a:pt x="165315" y="6578"/>
                    </a:lnTo>
                    <a:lnTo>
                      <a:pt x="320651" y="6578"/>
                    </a:lnTo>
                    <a:lnTo>
                      <a:pt x="329039" y="1735"/>
                    </a:lnTo>
                    <a:lnTo>
                      <a:pt x="343026" y="173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2" name="Google Shape;362;p36"/>
          <p:cNvGrpSpPr/>
          <p:nvPr/>
        </p:nvGrpSpPr>
        <p:grpSpPr>
          <a:xfrm>
            <a:off x="-93668" y="0"/>
            <a:ext cx="9329109" cy="5143497"/>
            <a:chOff x="-93668" y="0"/>
            <a:chExt cx="9329109" cy="5143497"/>
          </a:xfrm>
        </p:grpSpPr>
        <p:grpSp>
          <p:nvGrpSpPr>
            <p:cNvPr id="363" name="Google Shape;363;p36"/>
            <p:cNvGrpSpPr/>
            <p:nvPr/>
          </p:nvGrpSpPr>
          <p:grpSpPr>
            <a:xfrm rot="10800000">
              <a:off x="5592122" y="2697400"/>
              <a:ext cx="3643319" cy="2446097"/>
              <a:chOff x="-93668" y="0"/>
              <a:chExt cx="3643319" cy="2446097"/>
            </a:xfrm>
          </p:grpSpPr>
          <p:grpSp>
            <p:nvGrpSpPr>
              <p:cNvPr id="364" name="Google Shape;364;p36"/>
              <p:cNvGrpSpPr/>
              <p:nvPr/>
            </p:nvGrpSpPr>
            <p:grpSpPr>
              <a:xfrm rot="5400000">
                <a:off x="-1020033" y="926370"/>
                <a:ext cx="2446091" cy="593362"/>
                <a:chOff x="162825" y="4587541"/>
                <a:chExt cx="1763711" cy="427833"/>
              </a:xfrm>
            </p:grpSpPr>
            <p:pic>
              <p:nvPicPr>
                <p:cNvPr id="365" name="Google Shape;365;p36"/>
                <p:cNvPicPr preferRelativeResize="0"/>
                <p:nvPr/>
              </p:nvPicPr>
              <p:blipFill>
                <a:blip r:embed="rId2">
                  <a:alphaModFix amt="46000"/>
                </a:blip>
                <a:stretch>
                  <a:fillRect/>
                </a:stretch>
              </p:blipFill>
              <p:spPr>
                <a:xfrm>
                  <a:off x="162825" y="4648923"/>
                  <a:ext cx="1578400" cy="366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66" name="Google Shape;366;p36"/>
                <p:cNvPicPr preferRelativeResize="0"/>
                <p:nvPr/>
              </p:nvPicPr>
              <p:blipFill>
                <a:blip r:embed="rId2">
                  <a:alphaModFix/>
                </a:blip>
                <a:stretch>
                  <a:fillRect/>
                </a:stretch>
              </p:blipFill>
              <p:spPr>
                <a:xfrm>
                  <a:off x="819963" y="4758475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67" name="Google Shape;367;p36"/>
                <p:cNvPicPr preferRelativeResize="0"/>
                <p:nvPr/>
              </p:nvPicPr>
              <p:blipFill>
                <a:blip r:embed="rId2">
                  <a:alphaModFix amt="88000"/>
                </a:blip>
                <a:stretch>
                  <a:fillRect/>
                </a:stretch>
              </p:blipFill>
              <p:spPr>
                <a:xfrm>
                  <a:off x="440163" y="4587541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68" name="Google Shape;368;p36"/>
              <p:cNvGrpSpPr/>
              <p:nvPr/>
            </p:nvGrpSpPr>
            <p:grpSpPr>
              <a:xfrm rot="10800000">
                <a:off x="0" y="0"/>
                <a:ext cx="3549651" cy="387101"/>
                <a:chOff x="3124200" y="4610350"/>
                <a:chExt cx="3549651" cy="387101"/>
              </a:xfrm>
            </p:grpSpPr>
            <p:pic>
              <p:nvPicPr>
                <p:cNvPr id="369" name="Google Shape;369;p36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58031" b="6290"/>
                <a:stretch/>
              </p:blipFill>
              <p:spPr>
                <a:xfrm>
                  <a:off x="4245892" y="4610350"/>
                  <a:ext cx="2427959" cy="38710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0" name="Google Shape;370;p36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 l="23295" t="76294"/>
                <a:stretch/>
              </p:blipFill>
              <p:spPr>
                <a:xfrm rot="10800000">
                  <a:off x="3124200" y="4639375"/>
                  <a:ext cx="1505849" cy="3290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371" name="Google Shape;371;p36"/>
            <p:cNvGrpSpPr/>
            <p:nvPr/>
          </p:nvGrpSpPr>
          <p:grpSpPr>
            <a:xfrm>
              <a:off x="-93668" y="0"/>
              <a:ext cx="3643319" cy="2446097"/>
              <a:chOff x="-93668" y="0"/>
              <a:chExt cx="3643319" cy="2446097"/>
            </a:xfrm>
          </p:grpSpPr>
          <p:grpSp>
            <p:nvGrpSpPr>
              <p:cNvPr id="372" name="Google Shape;372;p36"/>
              <p:cNvGrpSpPr/>
              <p:nvPr/>
            </p:nvGrpSpPr>
            <p:grpSpPr>
              <a:xfrm rot="5400000">
                <a:off x="-1020033" y="926370"/>
                <a:ext cx="2446091" cy="593362"/>
                <a:chOff x="162825" y="4587541"/>
                <a:chExt cx="1763711" cy="427833"/>
              </a:xfrm>
            </p:grpSpPr>
            <p:pic>
              <p:nvPicPr>
                <p:cNvPr id="373" name="Google Shape;373;p36"/>
                <p:cNvPicPr preferRelativeResize="0"/>
                <p:nvPr/>
              </p:nvPicPr>
              <p:blipFill>
                <a:blip r:embed="rId2">
                  <a:alphaModFix amt="46000"/>
                </a:blip>
                <a:stretch>
                  <a:fillRect/>
                </a:stretch>
              </p:blipFill>
              <p:spPr>
                <a:xfrm>
                  <a:off x="162825" y="4648923"/>
                  <a:ext cx="1578400" cy="36645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4" name="Google Shape;374;p36"/>
                <p:cNvPicPr preferRelativeResize="0"/>
                <p:nvPr/>
              </p:nvPicPr>
              <p:blipFill>
                <a:blip r:embed="rId2">
                  <a:alphaModFix/>
                </a:blip>
                <a:stretch>
                  <a:fillRect/>
                </a:stretch>
              </p:blipFill>
              <p:spPr>
                <a:xfrm>
                  <a:off x="819963" y="4758475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5" name="Google Shape;375;p36"/>
                <p:cNvPicPr preferRelativeResize="0"/>
                <p:nvPr/>
              </p:nvPicPr>
              <p:blipFill>
                <a:blip r:embed="rId2">
                  <a:alphaModFix amt="88000"/>
                </a:blip>
                <a:stretch>
                  <a:fillRect/>
                </a:stretch>
              </p:blipFill>
              <p:spPr>
                <a:xfrm>
                  <a:off x="440163" y="4587541"/>
                  <a:ext cx="1106574" cy="2569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376" name="Google Shape;376;p36"/>
              <p:cNvGrpSpPr/>
              <p:nvPr/>
            </p:nvGrpSpPr>
            <p:grpSpPr>
              <a:xfrm rot="10800000">
                <a:off x="0" y="0"/>
                <a:ext cx="3549651" cy="387101"/>
                <a:chOff x="3124200" y="4610350"/>
                <a:chExt cx="3549651" cy="387101"/>
              </a:xfrm>
            </p:grpSpPr>
            <p:pic>
              <p:nvPicPr>
                <p:cNvPr id="377" name="Google Shape;377;p36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58031" b="6290"/>
                <a:stretch/>
              </p:blipFill>
              <p:spPr>
                <a:xfrm>
                  <a:off x="4245892" y="4610350"/>
                  <a:ext cx="2427959" cy="38710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78" name="Google Shape;378;p36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 l="23295" t="76294"/>
                <a:stretch/>
              </p:blipFill>
              <p:spPr>
                <a:xfrm rot="10800000">
                  <a:off x="3124200" y="4639375"/>
                  <a:ext cx="1505849" cy="3290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</p:grpSp>
      <p:sp>
        <p:nvSpPr>
          <p:cNvPr id="379" name="Google Shape;379;p36"/>
          <p:cNvSpPr/>
          <p:nvPr/>
        </p:nvSpPr>
        <p:spPr>
          <a:xfrm>
            <a:off x="175255" y="182850"/>
            <a:ext cx="8793600" cy="4777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3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Mono"/>
              <a:buNone/>
              <a:defRPr sz="2800" b="1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8" r:id="rId3"/>
    <p:sldLayoutId id="2147483681" r:id="rId4"/>
    <p:sldLayoutId id="2147483682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p40"/>
          <p:cNvPicPr preferRelativeResize="0"/>
          <p:nvPr/>
        </p:nvPicPr>
        <p:blipFill rotWithShape="1">
          <a:blip r:embed="rId3">
            <a:alphaModFix/>
          </a:blip>
          <a:srcRect l="2124" b="9502"/>
          <a:stretch/>
        </p:blipFill>
        <p:spPr>
          <a:xfrm>
            <a:off x="0" y="3773964"/>
            <a:ext cx="4304653" cy="145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40"/>
          <p:cNvPicPr preferRelativeResize="0"/>
          <p:nvPr/>
        </p:nvPicPr>
        <p:blipFill rotWithShape="1">
          <a:blip r:embed="rId4">
            <a:alphaModFix/>
          </a:blip>
          <a:srcRect t="19097" r="5042" b="2954"/>
          <a:stretch/>
        </p:blipFill>
        <p:spPr>
          <a:xfrm>
            <a:off x="3954530" y="3294539"/>
            <a:ext cx="3716124" cy="9588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roup 13"/>
          <p:cNvGrpSpPr/>
          <p:nvPr/>
        </p:nvGrpSpPr>
        <p:grpSpPr>
          <a:xfrm>
            <a:off x="411164" y="411777"/>
            <a:ext cx="7727004" cy="954107"/>
            <a:chOff x="411164" y="411777"/>
            <a:chExt cx="7727004" cy="954107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1164" y="411777"/>
              <a:ext cx="756865" cy="807699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789596" y="411777"/>
              <a:ext cx="7348572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Държавен изпит за придобиване на трета степен на професионална квалификация – част по теория на професията</a:t>
              </a:r>
              <a:b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по професия код 481030 „Приложен програмист”</a:t>
              </a:r>
              <a:b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специалност код 4810301 „Приложно програмиране”</a:t>
              </a:r>
              <a:endParaRPr lang="bg-BG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6427496" y="3294539"/>
            <a:ext cx="1908895" cy="917042"/>
          </a:xfrm>
          <a:noFill/>
        </p:spPr>
        <p:txBody>
          <a:bodyPr/>
          <a:lstStyle/>
          <a:p>
            <a:pPr algn="l"/>
            <a: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Дипломант:</a:t>
            </a:r>
            <a:b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g-BG" sz="18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Маги Бояджиева</a:t>
            </a:r>
            <a:endParaRPr lang="bg-BG" sz="18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205381" y="1892300"/>
            <a:ext cx="5160693" cy="1575908"/>
            <a:chOff x="205381" y="1617858"/>
            <a:chExt cx="5160693" cy="1850350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05381" y="1617858"/>
              <a:ext cx="5160693" cy="1850350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/>
          </p:nvSpPr>
          <p:spPr>
            <a:xfrm>
              <a:off x="564676" y="2375514"/>
              <a:ext cx="4307589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Тема: „Интерактивен </a:t>
              </a: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дашборд за анализ </a:t>
              </a:r>
              <a:r>
                <a:rPr lang="ru-RU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</a:t>
              </a:r>
              <a:r>
                <a:rPr lang="ru-RU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данни</a:t>
              </a:r>
              <a:endParaRPr lang="bg-BG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270261" y="928831"/>
            <a:ext cx="8615121" cy="3412260"/>
            <a:chOff x="270261" y="928831"/>
            <a:chExt cx="8615121" cy="3412260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0261" y="928831"/>
              <a:ext cx="4209375" cy="3412260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41455" y="928831"/>
              <a:ext cx="3943927" cy="3412260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1763" y="298450"/>
            <a:ext cx="4471655" cy="486641"/>
          </a:xfrm>
        </p:spPr>
        <p:txBody>
          <a:bodyPr/>
          <a:lstStyle/>
          <a:p>
            <a:r>
              <a:rPr lang="bg-BG" sz="32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Данни и визуализация</a:t>
            </a:r>
          </a:p>
        </p:txBody>
      </p:sp>
    </p:spTree>
    <p:extLst>
      <p:ext uri="{BB962C8B-B14F-4D97-AF65-F5344CB8AC3E}">
        <p14:creationId xmlns:p14="http://schemas.microsoft.com/office/powerpoint/2010/main" val="177645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249" y="523220"/>
            <a:ext cx="8539627" cy="41497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391146" y="64655"/>
            <a:ext cx="26981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 </a:t>
            </a:r>
            <a:r>
              <a:rPr lang="bg-BG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932281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3" y="429202"/>
            <a:ext cx="8324849" cy="424705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829187" y="68983"/>
            <a:ext cx="35237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Използвани </a:t>
            </a:r>
            <a:r>
              <a:rPr lang="bg-BG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1495506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281063" y="480289"/>
            <a:ext cx="8687446" cy="4357255"/>
            <a:chOff x="281063" y="480289"/>
            <a:chExt cx="8687446" cy="4357255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063" y="480289"/>
              <a:ext cx="5085264" cy="43572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86400" y="480289"/>
              <a:ext cx="3482109" cy="414712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sp>
        <p:nvSpPr>
          <p:cNvPr id="5" name="Rectangle 4"/>
          <p:cNvSpPr/>
          <p:nvPr/>
        </p:nvSpPr>
        <p:spPr>
          <a:xfrm>
            <a:off x="3143215" y="120224"/>
            <a:ext cx="234318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</a:t>
            </a:r>
            <a:r>
              <a:rPr lang="bg-BG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данни</a:t>
            </a:r>
          </a:p>
        </p:txBody>
      </p:sp>
    </p:spTree>
    <p:extLst>
      <p:ext uri="{BB962C8B-B14F-4D97-AF65-F5344CB8AC3E}">
        <p14:creationId xmlns:p14="http://schemas.microsoft.com/office/powerpoint/2010/main" val="3417973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291421" y="100858"/>
            <a:ext cx="25426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</a:t>
            </a:r>
            <a:r>
              <a:rPr lang="bg-BG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данни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53" y="562523"/>
            <a:ext cx="7499929" cy="3701098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07740" y="4417509"/>
            <a:ext cx="43380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Данни → Обработка → Анализ → Резултати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42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873" y="526473"/>
            <a:ext cx="8285018" cy="410453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98257" y="64808"/>
            <a:ext cx="318388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Библиотеката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</a:t>
            </a:r>
            <a:endParaRPr lang="bg-BG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2968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525376" y="108771"/>
            <a:ext cx="38411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Визуализация с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endParaRPr lang="bg-BG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164" y="570436"/>
            <a:ext cx="8386618" cy="4137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416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91439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412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2219" y="224559"/>
            <a:ext cx="4627418" cy="274205"/>
          </a:xfrm>
        </p:spPr>
        <p:txBody>
          <a:bodyPr/>
          <a:lstStyle/>
          <a:p>
            <a:r>
              <a:rPr lang="bg-BG" sz="2400" dirty="0" smtClean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 </a:t>
            </a:r>
            <a:r>
              <a:rPr lang="bg-BG" sz="2400" dirty="0">
                <a:solidFill>
                  <a:schemeClr val="bg1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функционалности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038" y="498764"/>
            <a:ext cx="8614395" cy="4147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14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421995" y="822037"/>
            <a:ext cx="8481860" cy="3537527"/>
            <a:chOff x="421995" y="822037"/>
            <a:chExt cx="8481860" cy="35375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1995" y="822037"/>
              <a:ext cx="5191115" cy="3537527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45018" y="1034473"/>
              <a:ext cx="3158837" cy="3168071"/>
            </a:xfrm>
            <a:prstGeom prst="rect">
              <a:avLst/>
            </a:prstGeom>
          </p:spPr>
        </p:pic>
      </p:grpSp>
      <p:sp>
        <p:nvSpPr>
          <p:cNvPr id="6" name="Rectangle 5"/>
          <p:cNvSpPr/>
          <p:nvPr/>
        </p:nvSpPr>
        <p:spPr>
          <a:xfrm>
            <a:off x="3017552" y="213092"/>
            <a:ext cx="334578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Backend </a:t>
            </a:r>
            <a:r>
              <a:rPr lang="bg-BG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endParaRPr lang="bg-BG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8339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476250"/>
            <a:ext cx="8429625" cy="42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809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Bachelor in Robotics Engineering by Slidesgo">
  <a:themeElements>
    <a:clrScheme name="Simple Light">
      <a:dk1>
        <a:srgbClr val="1F164D"/>
      </a:dk1>
      <a:lt1>
        <a:srgbClr val="F9F9F9"/>
      </a:lt1>
      <a:dk2>
        <a:srgbClr val="E8E8E8"/>
      </a:dk2>
      <a:lt2>
        <a:srgbClr val="C1C1C1"/>
      </a:lt2>
      <a:accent1>
        <a:srgbClr val="6F79E3"/>
      </a:accent1>
      <a:accent2>
        <a:srgbClr val="433ABA"/>
      </a:accent2>
      <a:accent3>
        <a:srgbClr val="130994"/>
      </a:accent3>
      <a:accent4>
        <a:srgbClr val="FFFFFF"/>
      </a:accent4>
      <a:accent5>
        <a:srgbClr val="FFFFFF"/>
      </a:accent5>
      <a:accent6>
        <a:srgbClr val="FFFFFF"/>
      </a:accent6>
      <a:hlink>
        <a:srgbClr val="1F164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598</Words>
  <Application>Microsoft Office PowerPoint</Application>
  <PresentationFormat>On-screen Show (16:9)</PresentationFormat>
  <Paragraphs>31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Times New Roman</vt:lpstr>
      <vt:lpstr>Arial</vt:lpstr>
      <vt:lpstr>IBM Plex Mono</vt:lpstr>
      <vt:lpstr>Archivo</vt:lpstr>
      <vt:lpstr>Bachelor in Robotics Engineering by Slidesgo</vt:lpstr>
      <vt:lpstr>Дипломант:  Маги Бояджиева</vt:lpstr>
      <vt:lpstr>Данни и визуализация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Основни функционалности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Дипломант:  Маги Бояджиева</dc:title>
  <dc:creator>admin</dc:creator>
  <cp:lastModifiedBy>admin</cp:lastModifiedBy>
  <cp:revision>22</cp:revision>
  <dcterms:modified xsi:type="dcterms:W3CDTF">2026-05-12T07:16:51Z</dcterms:modified>
</cp:coreProperties>
</file>